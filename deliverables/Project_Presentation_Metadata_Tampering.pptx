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ADVANCED DIGITAL FORENSICS SYSTEM</a:t>
            </a:r>
          </a:p>
          <a:p>
            <a:pPr>
              <a:spcBef>
                <a:spcPts val="1200"/>
              </a:spcBef>
              <a:defRPr sz="3600" b="1">
                <a:solidFill>
                  <a:srgbClr val="F8FAFC"/>
                </a:solidFill>
              </a:defRPr>
            </a:pPr>
            <a:r>
              <a:t>Metadata Tampering Detection in Media Files Using ExifTool</a:t>
            </a:r>
          </a:p>
          <a:p>
            <a:pPr>
              <a:spcBef>
                <a:spcPts val="2400"/>
              </a:spcBef>
              <a:defRPr sz="1600">
                <a:solidFill>
                  <a:srgbClr val="94A3B8"/>
                </a:solidFill>
              </a:defRPr>
            </a:pPr>
            <a:r>
              <a:t>Candidate: Kappala Bhuvana Kruthi (bhuvanakruthi.cutm@gmail.com)</a:t>
            </a:r>
            <a:br/>
            <a:r>
              <a:t>Department of Computer Science &amp; Engineering | 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1. Problem Statement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Susceptibility of digital media evidence to invisible metadata alterations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Digital Evidence Vulnerability: </a:t>
            </a:r>
            <a:r>
              <a:rPr sz="1300">
                <a:solidFill>
                  <a:srgbClr val="F8FAFC"/>
                </a:solidFill>
              </a:rPr>
              <a:t>Digital photos and media files are widely used in legal proceedings, journalism, and insurance claims. However, metadata (EXIF/XMP) can be silently modified without leaving visible image artifacts.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Limitations of Built-in OS Tools: </a:t>
            </a:r>
            <a:r>
              <a:rPr sz="1300">
                <a:solidFill>
                  <a:srgbClr val="F8FAFC"/>
                </a:solidFill>
              </a:rPr>
              <a:t>Operating systems display less than 10% of available metadata tags and cannot parse complex MakerNotes, GPS history, or XMP modification records.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Privacy &amp; Chain of Custody Violations: </a:t>
            </a:r>
            <a:r>
              <a:rPr sz="1300">
                <a:solidFill>
                  <a:srgbClr val="F8FAFC"/>
                </a:solidFill>
              </a:rPr>
              <a:t>Existing online tools force investigators to upload evidence to third-party cloud servers, violating privacy laws and invalidating legal chain-of-custody.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Need for Automated Differential Analysis: </a:t>
            </a:r>
            <a:r>
              <a:rPr sz="1300">
                <a:solidFill>
                  <a:srgbClr val="F8FAFC"/>
                </a:solidFill>
              </a:rPr>
              <a:t>Forensic examiners need an offline, explainable system to rapidly detect alterations between reference and suspected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2. Project Objectives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Key capabilities designed into the forensics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Subprocess ExifTool Integration: </a:t>
            </a:r>
            <a:r>
              <a:rPr sz="1300">
                <a:solidFill>
                  <a:srgbClr val="F8FAFC"/>
                </a:solidFill>
              </a:rPr>
              <a:t>Safely execute Phil Harvey's ExifTool standalone binary via Python subprocess (shell=False) to extract comprehensive metadata across all tag families.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Cryptographic Integrity Verification: </a:t>
            </a:r>
            <a:r>
              <a:rPr sz="1300">
                <a:solidFill>
                  <a:srgbClr val="F8FAFC"/>
                </a:solidFill>
              </a:rPr>
              <a:t>Compute bit-for-bit SHA-256 and legacy MD5 checksums to verify mathematical byte integrity.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Two-File Differential Analysis: </a:t>
            </a:r>
            <a:r>
              <a:rPr sz="1300">
                <a:solidFill>
                  <a:srgbClr val="F8FAFC"/>
                </a:solidFill>
              </a:rPr>
              <a:t>Automate comparison between File A (Reference) and File B (Suspected) to classify tags as Matching, Changed, Only A, or Only B.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Explainable Anomaly Rules: </a:t>
            </a:r>
            <a:r>
              <a:rPr sz="1300">
                <a:solidFill>
                  <a:srgbClr val="F8FAFC"/>
                </a:solidFill>
              </a:rPr>
              <a:t>Implement transparent heuristics to detect editing software signatures (Photoshop/GIMP), chronological timestamp inversions, and GPS stripping.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Offline Local Persistence &amp; Reporting: </a:t>
            </a:r>
            <a:r>
              <a:rPr sz="1300">
                <a:solidFill>
                  <a:srgbClr val="F8FAFC"/>
                </a:solidFill>
              </a:rPr>
              <a:t>Store audit trails in a local SQLite database and export reports in HTML, JSON, CSV, and DOCX formats.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3. Digital Forensics &amp; Metadata Fundamentals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Understanding hidden layers within media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EXIF (Exchangeable Image File Format): </a:t>
            </a:r>
            <a:r>
              <a:rPr sz="1300">
                <a:solidFill>
                  <a:srgbClr val="F8FAFC"/>
                </a:solidFill>
              </a:rPr>
              <a:t>Stores camera hardware settings: Make, Model, Shutter Speed, Aperture, ISO, Lens Serial Number, and Original Capture Date.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XMP (Extensible Metadata Platform): </a:t>
            </a:r>
            <a:r>
              <a:rPr sz="1300">
                <a:solidFill>
                  <a:srgbClr val="F8FAFC"/>
                </a:solidFill>
              </a:rPr>
              <a:t>Adobe-developed XML metadata standard. Tracks modification history, editing software agents, document IDs, and derivate records.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IPTC-NAA Standard: </a:t>
            </a:r>
            <a:r>
              <a:rPr sz="1300">
                <a:solidFill>
                  <a:srgbClr val="F8FAFC"/>
                </a:solidFill>
              </a:rPr>
              <a:t>Captures journalistic and archival information: Copyright, Author, Location Details, Captions, and Keywords.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GPS Geolocation Group: </a:t>
            </a:r>
            <a:r>
              <a:rPr sz="1300">
                <a:solidFill>
                  <a:srgbClr val="F8FAFC"/>
                </a:solidFill>
              </a:rPr>
              <a:t>Records physical recording location: Latitude, Longitude, Altitude, Timestamp, and Map Positioning.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MakerNotes: </a:t>
            </a:r>
            <a:r>
              <a:rPr sz="1300">
                <a:solidFill>
                  <a:srgbClr val="F8FAFC"/>
                </a:solidFill>
              </a:rPr>
              <a:t>Proprietary camera manufacturer binary blocks (Canon, Nikon, Sony) often stripped or corrupted during non-camera editing.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4. ExifTool: The Forensic Standard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Why Phil Harvey's ExifTool is superior to basic libraries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Gold Standard Tooling: </a:t>
            </a:r>
            <a:r>
              <a:rPr sz="1300">
                <a:solidFill>
                  <a:srgbClr val="F8FAFC"/>
                </a:solidFill>
              </a:rPr>
              <a:t>Phil Harvey's ExifTool is recognized globally by law enforcement and cyber forensic laboratories as the premier metadata reader and writer.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Comprehensive Tag Support: </a:t>
            </a:r>
            <a:r>
              <a:rPr sz="1300">
                <a:solidFill>
                  <a:srgbClr val="F8FAFC"/>
                </a:solidFill>
              </a:rPr>
              <a:t>Reads thousands of tags across 100+ file formats including JPEG, PNG, TIFF, WebP, HEIC, and RAW camera formats.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Safe JSON Extraction: </a:t>
            </a:r>
            <a:r>
              <a:rPr sz="1300">
                <a:solidFill>
                  <a:srgbClr val="F8FAFC"/>
                </a:solidFill>
              </a:rPr>
              <a:t>Using `-j -G -a -u`, ExifTool exports structured JSON preserving tag families and unknown vendor tags without corrupting source files.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No File Locking / Read-Only Mode: </a:t>
            </a:r>
            <a:r>
              <a:rPr sz="1300">
                <a:solidFill>
                  <a:srgbClr val="F8FAFC"/>
                </a:solidFill>
              </a:rPr>
              <a:t>ExifTool operates in read-only forensic mode, ensuring that original evidence files are never modified during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5. System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3-Tier modular design ensuring forensic integrity and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Presentation Tier: </a:t>
            </a:r>
            <a:r>
              <a:rPr sz="1300">
                <a:solidFill>
                  <a:srgbClr val="F8FAFC"/>
                </a:solidFill>
              </a:rPr>
              <a:t>Modern Cyber-Forensics Dark UI built with Flask templates, Vanilla CSS, and Vanilla JavaScript. Zero external trackers or CDNs.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Core Forensic Engine: </a:t>
            </a:r>
            <a:r>
              <a:rPr sz="1300">
                <a:solidFill>
                  <a:srgbClr val="F8FAFC"/>
                </a:solidFill>
              </a:rPr>
              <a:t>Modular Python engine:
• exiftool_runner: Subprocess controller
• hasher: Chunked SHA-256/MD5 streamer
• comparator: Differential comparison engine
• anomaly_detector: Rule-based heuristics evaluator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Persistence &amp; Native Tools: </a:t>
            </a:r>
            <a:r>
              <a:rPr sz="1300">
                <a:solidFill>
                  <a:srgbClr val="F8FAFC"/>
                </a:solidFill>
              </a:rPr>
              <a:t>Standalone ExifTool 64-bit binary running locally in project tools/ folder; SQLite database (investigations.db) storing case records and chain-of-custody audit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6. Forensic Analysis Workflow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Step-by-step pipeline from evidence ingestion to formal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Evidence Ingestion &amp; Validation: </a:t>
            </a:r>
            <a:r>
              <a:rPr sz="1300">
                <a:solidFill>
                  <a:srgbClr val="F8FAFC"/>
                </a:solidFill>
              </a:rPr>
              <a:t>Uploaded files are assigned randomized server UUIDs and checked against MIME allowlists (JPEG, PNG, WebP, TIFF, HEIC).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Cryptographic Hashing: </a:t>
            </a:r>
            <a:r>
              <a:rPr sz="1300">
                <a:solidFill>
                  <a:srgbClr val="F8FAFC"/>
                </a:solidFill>
              </a:rPr>
              <a:t>SHA-256 and MD5 hashes are calculated in 64 KB memory chunks before any metadata extraction begins.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ExifTool Execution: </a:t>
            </a:r>
            <a:r>
              <a:rPr sz="1300">
                <a:solidFill>
                  <a:srgbClr val="F8FAFC"/>
                </a:solidFill>
              </a:rPr>
              <a:t>Subprocess executes standalone ExifTool with `-j -G -a -u`, extracting all tag families and formatting timestamps.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Heuristic Anomaly Evaluation: </a:t>
            </a:r>
            <a:r>
              <a:rPr sz="1300">
                <a:solidFill>
                  <a:srgbClr val="F8FAFC"/>
                </a:solidFill>
              </a:rPr>
              <a:t>Scanners inspect for software signatures, timestamp contradictions, GPS presence/stripping, and format mismatches.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Differential Categorization &amp; Audit Logging: </a:t>
            </a:r>
            <a:r>
              <a:rPr sz="1300">
                <a:solidFill>
                  <a:srgbClr val="F8FAFC"/>
                </a:solidFill>
              </a:rPr>
              <a:t>If comparing two files, differential engine groups tags; records are stored in SQLite and reports generated.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7. Tampering Heuristic Rules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Transparent, rule-based detection without fabricated AI percentages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Editing Software Signature (ANOM_EDITOR_SIGNATURE): </a:t>
            </a:r>
            <a:r>
              <a:rPr sz="1300">
                <a:solidFill>
                  <a:srgbClr val="F8FAFC"/>
                </a:solidFill>
              </a:rPr>
              <a:t>Detects traces of editing suites (Adobe Photoshop, GIMP, Canva, Lightroom, Snapseed) in Software, CreatorTool, or History tags.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Chronological Timestamp Inversion (ANOM_TIMESTAMP_INVERSION): </a:t>
            </a:r>
            <a:r>
              <a:rPr sz="1300">
                <a:solidFill>
                  <a:srgbClr val="F8FAFC"/>
                </a:solidFill>
              </a:rPr>
              <a:t>Flags cases where ModifyDate is earlier than DateTimeOriginal (physically impossible under standard camera operations).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Extension / Format Discrepancy (ANOM_EXT_TYPE_MISMATCH): </a:t>
            </a:r>
            <a:r>
              <a:rPr sz="1300">
                <a:solidFill>
                  <a:srgbClr val="F8FAFC"/>
                </a:solidFill>
              </a:rPr>
              <a:t>Flags instances where the file extension (e.g., .jpg) conflicts with actual internal binary structure (e.g., PNG).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Metadata Stripping / Sparsity (ANOM_METADATA_STRIPPED): </a:t>
            </a:r>
            <a:r>
              <a:rPr sz="1300">
                <a:solidFill>
                  <a:srgbClr val="F8FAFC"/>
                </a:solidFill>
              </a:rPr>
              <a:t>Notes files lacking camera hardware details or having fewer than 15 tags (common in social media downloads or privacy scrubbing).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Differential Injections &amp; Stripping: </a:t>
            </a:r>
            <a:r>
              <a:rPr sz="1300">
                <a:solidFill>
                  <a:srgbClr val="F8FAFC"/>
                </a:solidFill>
              </a:rPr>
              <a:t>Detects when File B introduces editor software tags or removes GPS coordinates present in File 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8. Cryptographic Hash Verification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Mathematical certainty of bit-for-bit file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SHA-256 (Primary Forensic Standard): </a:t>
            </a:r>
            <a:r>
              <a:rPr sz="1300">
                <a:solidFill>
                  <a:srgbClr val="F8FAFC"/>
                </a:solidFill>
              </a:rPr>
              <a:t>256-bit secure cryptographic hash. Changing even a single bit in an image completely alters the resulting 64-hexadecimal character digest (Avalanche Effect).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MD5 (Legacy Compatibility): </a:t>
            </a:r>
            <a:r>
              <a:rPr sz="1300">
                <a:solidFill>
                  <a:srgbClr val="F8FAFC"/>
                </a:solidFill>
              </a:rPr>
              <a:t>Included solely for cross-referencing legacy police and forensic databases. Explicitly marked in the UI as cryptographically broken for collision resistance.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Identical Hashes = Exact Byte Duplicate: </a:t>
            </a:r>
            <a:r>
              <a:rPr sz="1300">
                <a:solidFill>
                  <a:srgbClr val="F8FAFC"/>
                </a:solidFill>
              </a:rPr>
              <a:t>If two files share the same SHA-256 hash, they are identical in every single byte with astronomical mathematical confidence.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Crucial Forensic Principle: </a:t>
            </a:r>
            <a:r>
              <a:rPr sz="1300">
                <a:solidFill>
                  <a:srgbClr val="F8FAFC"/>
                </a:solidFill>
              </a:rPr>
              <a:t>A differing hash proves binary non-identity, but DOES NOT alone establish malicious manipulation (re-compression or rotation also changes hashes).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9. Two-File Forensic Comparison Workspace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Structured differential matrix between Reference (File A) and Suspected (File B)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Side-by-Side Metadata Alignment: </a:t>
            </a:r>
            <a:r>
              <a:rPr sz="1300">
                <a:solidFill>
                  <a:srgbClr val="F8FAFC"/>
                </a:solidFill>
              </a:rPr>
              <a:t>Extracts metadata from both media files and aligns them key-by-key across all tag families.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Four Differential Categories: </a:t>
            </a:r>
            <a:r>
              <a:rPr sz="1300">
                <a:solidFill>
                  <a:srgbClr val="F8FAFC"/>
                </a:solidFill>
              </a:rPr>
              <a:t>• MATCHING: Same tag, normalized equal values
• CHANGED: Tag present in both, but values altered
• ONLY IN FILE A: Tag stripped or absent in File B
• ONLY IN FILE B: Tag newly introduced in File B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Similarity Percentage Calculation: </a:t>
            </a:r>
            <a:r>
              <a:rPr sz="1300">
                <a:solidFill>
                  <a:srgbClr val="F8FAFC"/>
                </a:solidFill>
              </a:rPr>
              <a:t>Computes objective tag similarity metric based on matching vs total tags.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Instant Filtering &amp; Search: </a:t>
            </a:r>
            <a:r>
              <a:rPr sz="1300">
                <a:solidFill>
                  <a:srgbClr val="F8FAFC"/>
                </a:solidFill>
              </a:rPr>
              <a:t>Examiners can filter by category tab or use the live search bar to inspect specific tags like 'Software', 'GPS', or 'DateTime'.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Multi-Format Export: </a:t>
            </a:r>
            <a:r>
              <a:rPr sz="1300">
                <a:solidFill>
                  <a:srgbClr val="F8FAFC"/>
                </a:solidFill>
              </a:rPr>
              <a:t>Supports one-click export of comparison tables to CSV, JSON, and printable HTML.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10. Automated Validation &amp; Test Suite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Rigorous verification: 8 of 8 tests executed and passed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TC-01: Cryptographic Hasher (PASSED): </a:t>
            </a:r>
            <a:r>
              <a:rPr sz="1300">
                <a:solidFill>
                  <a:srgbClr val="F8FAFC"/>
                </a:solidFill>
              </a:rPr>
              <a:t>Validated bit-for-bit match on duplicates and mismatch upon altering 1 byte.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TC-02: ExifTool Binary Detection (PASSED): </a:t>
            </a:r>
            <a:r>
              <a:rPr sz="1300">
                <a:solidFill>
                  <a:srgbClr val="F8FAFC"/>
                </a:solidFill>
              </a:rPr>
              <a:t>Verified standalone ExifTool 13.59 executable launches and returns version.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TC-03: Comparator Differential Logic (PASSED): </a:t>
            </a:r>
            <a:r>
              <a:rPr sz="1300">
                <a:solidFill>
                  <a:srgbClr val="F8FAFC"/>
                </a:solidFill>
              </a:rPr>
              <a:t>Verified classification into Matching, Changed, Only A, and Only B.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TC-04: Anomaly Heuristics Scanner (PASSED): </a:t>
            </a:r>
            <a:r>
              <a:rPr sz="1300">
                <a:solidFill>
                  <a:srgbClr val="F8FAFC"/>
                </a:solidFill>
              </a:rPr>
              <a:t>Verified detection of Adobe Photoshop signature and timestamp inversion.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TC-05: SQLite Persistence &amp; Audit Log (PASSED): </a:t>
            </a:r>
            <a:r>
              <a:rPr sz="1300">
                <a:solidFill>
                  <a:srgbClr val="F8FAFC"/>
                </a:solidFill>
              </a:rPr>
              <a:t>Verified case saving, retrieval, listing, and audit event recording.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TC-06 to TC-08: Real ExifTool Extraction on Sample Images (PASSED): </a:t>
            </a:r>
            <a:r>
              <a:rPr sz="1300">
                <a:solidFill>
                  <a:srgbClr val="F8FAFC"/>
                </a:solidFill>
              </a:rPr>
              <a:t>Verified end-to-end extraction from genuine synthetic camera, edited, and stripped images.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11. Forensic Principles &amp; Limitations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Maintaining scientific objectivity in digital evidence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Hashes Detect Changes, Not Motives: </a:t>
            </a:r>
            <a:r>
              <a:rPr sz="1300">
                <a:solidFill>
                  <a:srgbClr val="F8FAFC"/>
                </a:solidFill>
              </a:rPr>
              <a:t>A hash difference proves non-identity; it cannot prove malicious forgery versus benign format re-encoding.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Metadata Stripping is Widespread: </a:t>
            </a:r>
            <a:r>
              <a:rPr sz="1300">
                <a:solidFill>
                  <a:srgbClr val="F8FAFC"/>
                </a:solidFill>
              </a:rPr>
              <a:t>Social media networks (WhatsApp, Instagram, X) strip metadata automatically for privacy; lack of metadata does not equal guilt.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Device Clocks are Unverified: </a:t>
            </a:r>
            <a:r>
              <a:rPr sz="1300">
                <a:solidFill>
                  <a:srgbClr val="F8FAFC"/>
                </a:solidFill>
              </a:rPr>
              <a:t>EXIF timestamps reflect the camera's internal clock at recording time, which may be uncalibrated or set to an incorrect timezone.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Corroboration is Essential: </a:t>
            </a:r>
            <a:r>
              <a:rPr sz="1300">
                <a:solidFill>
                  <a:srgbClr val="F8FAFC"/>
                </a:solidFill>
              </a:rPr>
              <a:t>Digital forensics requires correlating metadata anomalies with visual inspection, file system timestamps, and external testimony.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12. Future Scope &amp; Enhancements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Expanding capabilities for advanced forensic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Pixel-Level Error Level Analysis (ELA): </a:t>
            </a:r>
            <a:r>
              <a:rPr sz="1300">
                <a:solidFill>
                  <a:srgbClr val="F8FAFC"/>
                </a:solidFill>
              </a:rPr>
              <a:t>Integrate compression artifact analysis to visually detect resaved composite areas within pixel grids.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Multimedia Video/Audio Inspection: </a:t>
            </a:r>
            <a:r>
              <a:rPr sz="1300">
                <a:solidFill>
                  <a:srgbClr val="F8FAFC"/>
                </a:solidFill>
              </a:rPr>
              <a:t>Extend differential extraction to MP4, MKV, and WAV container structures.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PRNU Sensor Noise Fingerprinting: </a:t>
            </a:r>
            <a:r>
              <a:rPr sz="1300">
                <a:solidFill>
                  <a:srgbClr val="F8FAFC"/>
                </a:solidFill>
              </a:rPr>
              <a:t>Identify the unique physical camera sensor that captured an image via Photo-Response Non-Uniformity.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Integration with Forensic Evidence Standards: </a:t>
            </a:r>
            <a:r>
              <a:rPr sz="1300">
                <a:solidFill>
                  <a:srgbClr val="F8FAFC"/>
                </a:solidFill>
              </a:rPr>
              <a:t>Support automated packaging into standard DFIR forensic container formats (e.g., AFF4 / E01).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13. Project Conclusion &amp; Summary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Summary of project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161F3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Applied Academic Achievement: </a:t>
            </a:r>
            <a:r>
              <a:rPr sz="1300">
                <a:solidFill>
                  <a:srgbClr val="F8FAFC"/>
                </a:solidFill>
              </a:rPr>
              <a:t>Successfully engineered a fully working, offline digital forensics application capable of real ExifTool execution, differential comparison, and cryptographic verification.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Defensible &amp; Objective Methodology: </a:t>
            </a:r>
            <a:r>
              <a:rPr sz="1300">
                <a:solidFill>
                  <a:srgbClr val="F8FAFC"/>
                </a:solidFill>
              </a:rPr>
              <a:t>Implements transparent heuristic rules and rigorous caveat disclosures adhering to ISO/IEC 27037 standards.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Comprehensive Deliverables: </a:t>
            </a:r>
            <a:r>
              <a:rPr sz="1300">
                <a:solidFill>
                  <a:srgbClr val="F8FAFC"/>
                </a:solidFill>
              </a:rPr>
              <a:t>Includes web dashboard, automated test suite, sample test images, formal academic report, and presentation slides.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6B6D4"/>
                </a:solidFill>
              </a:rPr>
              <a:t>• Open for Questions: </a:t>
            </a:r>
            <a:r>
              <a:rPr sz="1300">
                <a:solidFill>
                  <a:srgbClr val="F8FAFC"/>
                </a:solidFill>
              </a:rPr>
              <a:t>Thank you! I am ready for questions from the evaluation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